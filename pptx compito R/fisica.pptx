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2" y="9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2A645F-F481-E96A-0CFD-78E51CE276A5}"/>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6792102-7275-CFE6-6F79-16F3002EA9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04386357-AB8E-0058-81F1-1E8B52D25B07}"/>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5" name="Segnaposto piè di pagina 4">
            <a:extLst>
              <a:ext uri="{FF2B5EF4-FFF2-40B4-BE49-F238E27FC236}">
                <a16:creationId xmlns:a16="http://schemas.microsoft.com/office/drawing/2014/main" id="{561B6A13-4746-D0E4-6FEA-3E2C8A60A1C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8B28A1E-A22D-350C-858D-719CF40D165E}"/>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298779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74D9C5-02F6-C471-64B4-8D13BC01245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833E04E-ACE1-2814-BD2D-081C50F4EA12}"/>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3CDA109-E2A8-B043-ABC6-63E24DC3830A}"/>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5" name="Segnaposto piè di pagina 4">
            <a:extLst>
              <a:ext uri="{FF2B5EF4-FFF2-40B4-BE49-F238E27FC236}">
                <a16:creationId xmlns:a16="http://schemas.microsoft.com/office/drawing/2014/main" id="{5727B676-D019-AD57-3464-943610B9E42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CCFAA81-BBA9-9F2C-2D19-2E670535B18A}"/>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3609574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7803F0-2D16-5497-1167-C4249BE71C1C}"/>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107A0A3-5650-2D72-01BC-26569B9FC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C604E5B-7688-E07F-E5F1-3799ACBD9D63}"/>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5" name="Segnaposto piè di pagina 4">
            <a:extLst>
              <a:ext uri="{FF2B5EF4-FFF2-40B4-BE49-F238E27FC236}">
                <a16:creationId xmlns:a16="http://schemas.microsoft.com/office/drawing/2014/main" id="{AE7C1E2F-1C8D-76B2-CF99-0EAB4CC15E4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13AA3B4-F7CC-4937-CE93-B1E80D1FD50F}"/>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4036590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32C15A-C69A-974B-E029-9C1745391D8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3CF08A4-EE7D-D0DC-B529-1BF4FF19603D}"/>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16BF019C-1EA4-2CB8-67CB-FF6BE140DAB8}"/>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6C3935A-C510-754C-AFC5-E8F6BF7C75E9}"/>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6" name="Segnaposto piè di pagina 5">
            <a:extLst>
              <a:ext uri="{FF2B5EF4-FFF2-40B4-BE49-F238E27FC236}">
                <a16:creationId xmlns:a16="http://schemas.microsoft.com/office/drawing/2014/main" id="{436FAB6C-5F6C-85C8-EC58-936F66E4285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ED45610-2B6B-CE80-24A1-A7E0DCB4B738}"/>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4173664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5058B1-6B7D-E7DD-5001-605D1CB2E45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0AD3EA-7749-38EF-F74B-78F87771F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4B750E8F-3C8F-594D-6910-D6E9864656C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5234F216-4F7F-D189-0008-697864CEEB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91E0FF-9F23-7F3E-4ACD-E02A2A6E0993}"/>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55DA3AEE-13FB-A596-C471-6C283475A162}"/>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8" name="Segnaposto piè di pagina 7">
            <a:extLst>
              <a:ext uri="{FF2B5EF4-FFF2-40B4-BE49-F238E27FC236}">
                <a16:creationId xmlns:a16="http://schemas.microsoft.com/office/drawing/2014/main" id="{F7B658C2-60EC-ED02-1092-FB7C0D9E9D0E}"/>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2996E31-CC18-8EAC-ABC9-174148A34FE6}"/>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4291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ED8F80-DCA0-AE0E-F22B-840357380C5D}"/>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DD18D84-D70C-7489-5A26-DC8C4A6185C0}"/>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4" name="Segnaposto piè di pagina 3">
            <a:extLst>
              <a:ext uri="{FF2B5EF4-FFF2-40B4-BE49-F238E27FC236}">
                <a16:creationId xmlns:a16="http://schemas.microsoft.com/office/drawing/2014/main" id="{CA6AFAD5-6156-FDAF-A9D4-C479742242B5}"/>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88097F58-4850-7359-3205-1700068BF930}"/>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1700150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BB4B41A-560E-7268-FC5C-4DD07320B0B5}"/>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3" name="Segnaposto piè di pagina 2">
            <a:extLst>
              <a:ext uri="{FF2B5EF4-FFF2-40B4-BE49-F238E27FC236}">
                <a16:creationId xmlns:a16="http://schemas.microsoft.com/office/drawing/2014/main" id="{375AFAC0-818B-360D-19C3-669D1AB77DF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89E20CA7-B336-D417-04A9-6F495713DE37}"/>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2238897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2A5D65-87D7-1CB4-A1BD-C9D48963DD2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5E22A69-821F-801D-5179-F84F7018E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37532079-F63A-4379-B9CB-33CBAB709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002A88C-9124-499D-D896-CA52385C5414}"/>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6" name="Segnaposto piè di pagina 5">
            <a:extLst>
              <a:ext uri="{FF2B5EF4-FFF2-40B4-BE49-F238E27FC236}">
                <a16:creationId xmlns:a16="http://schemas.microsoft.com/office/drawing/2014/main" id="{B16909BC-EE73-2301-268B-A0DFB075FC8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579FC9F-EE17-2C7C-6CC6-E1441C7E4AAC}"/>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4028512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6078A5-3611-23A4-B2F8-0CD16D6B5B3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E3275DE-836E-CB1A-0EFF-F3FF852195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FAF14A-24FE-48E0-15CB-087C220F8A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ACBAA13-CDAB-9383-BB39-073ED7C649D1}"/>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6" name="Segnaposto piè di pagina 5">
            <a:extLst>
              <a:ext uri="{FF2B5EF4-FFF2-40B4-BE49-F238E27FC236}">
                <a16:creationId xmlns:a16="http://schemas.microsoft.com/office/drawing/2014/main" id="{64A8EC95-7DC5-1F5A-66CD-CB37EFE4E63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3EF7169-3AF1-F2F2-2F45-CDEB1527C9D2}"/>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3583437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8D3FAD-709F-9CE1-ED63-6A4FD9A86D11}"/>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72902A1-00E4-B81E-27BA-0350A81D03A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948AEA7-0E46-EAAD-A54A-F0398FDEE255}"/>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5" name="Segnaposto piè di pagina 4">
            <a:extLst>
              <a:ext uri="{FF2B5EF4-FFF2-40B4-BE49-F238E27FC236}">
                <a16:creationId xmlns:a16="http://schemas.microsoft.com/office/drawing/2014/main" id="{B903FEEB-A825-7C2D-2021-414578BFC51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63D340B-47D9-32CC-AABD-9C3AE56F13CD}"/>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407580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632B1FCF-7685-DD15-71EC-3391F3751D10}"/>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771E0AA-B18F-FD27-2C97-A0C98F2BB9E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37BD7E-7333-A424-3C24-78F471E3A08E}"/>
              </a:ext>
            </a:extLst>
          </p:cNvPr>
          <p:cNvSpPr>
            <a:spLocks noGrp="1"/>
          </p:cNvSpPr>
          <p:nvPr>
            <p:ph type="dt" sz="half" idx="10"/>
          </p:nvPr>
        </p:nvSpPr>
        <p:spPr/>
        <p:txBody>
          <a:bodyPr/>
          <a:lstStyle/>
          <a:p>
            <a:fld id="{577A0F1F-D450-4A0E-BE4A-59E687F7145E}" type="datetimeFigureOut">
              <a:rPr lang="it-IT" smtClean="0"/>
              <a:t>30/05/2022</a:t>
            </a:fld>
            <a:endParaRPr lang="it-IT"/>
          </a:p>
        </p:txBody>
      </p:sp>
      <p:sp>
        <p:nvSpPr>
          <p:cNvPr id="5" name="Segnaposto piè di pagina 4">
            <a:extLst>
              <a:ext uri="{FF2B5EF4-FFF2-40B4-BE49-F238E27FC236}">
                <a16:creationId xmlns:a16="http://schemas.microsoft.com/office/drawing/2014/main" id="{D5EAE55C-4562-BF47-6B15-6FA9F3090CB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B00717B-8088-4D60-05D5-83B51EBD11AC}"/>
              </a:ext>
            </a:extLst>
          </p:cNvPr>
          <p:cNvSpPr>
            <a:spLocks noGrp="1"/>
          </p:cNvSpPr>
          <p:nvPr>
            <p:ph type="sldNum" sz="quarter" idx="12"/>
          </p:nvPr>
        </p:nvSpPr>
        <p:spPr/>
        <p:txBody>
          <a:bodyPr/>
          <a:lstStyle/>
          <a:p>
            <a:fld id="{553C4AF2-4A6D-4905-868B-72CE0A782685}" type="slidenum">
              <a:rPr lang="it-IT" smtClean="0"/>
              <a:t>‹N›</a:t>
            </a:fld>
            <a:endParaRPr lang="it-IT"/>
          </a:p>
        </p:txBody>
      </p:sp>
    </p:spTree>
    <p:extLst>
      <p:ext uri="{BB962C8B-B14F-4D97-AF65-F5344CB8AC3E}">
        <p14:creationId xmlns:p14="http://schemas.microsoft.com/office/powerpoint/2010/main" val="2335984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6247683-264E-484D-27BF-BD195AE7DB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C3090E2-48AA-796B-C7F0-A39E0CA592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F6902F3-BBBB-A26F-C171-F30B3E25E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7A0F1F-D450-4A0E-BE4A-59E687F7145E}" type="datetimeFigureOut">
              <a:rPr lang="it-IT" smtClean="0"/>
              <a:t>30/05/2022</a:t>
            </a:fld>
            <a:endParaRPr lang="it-IT"/>
          </a:p>
        </p:txBody>
      </p:sp>
      <p:sp>
        <p:nvSpPr>
          <p:cNvPr id="5" name="Segnaposto piè di pagina 4">
            <a:extLst>
              <a:ext uri="{FF2B5EF4-FFF2-40B4-BE49-F238E27FC236}">
                <a16:creationId xmlns:a16="http://schemas.microsoft.com/office/drawing/2014/main" id="{7245BD78-1552-1277-E205-71D80CC882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7AB6336A-0FAD-0A5E-B814-8F7954A6B0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3C4AF2-4A6D-4905-868B-72CE0A782685}" type="slidenum">
              <a:rPr lang="it-IT" smtClean="0"/>
              <a:t>‹N›</a:t>
            </a:fld>
            <a:endParaRPr lang="it-IT"/>
          </a:p>
        </p:txBody>
      </p:sp>
    </p:spTree>
    <p:extLst>
      <p:ext uri="{BB962C8B-B14F-4D97-AF65-F5344CB8AC3E}">
        <p14:creationId xmlns:p14="http://schemas.microsoft.com/office/powerpoint/2010/main" val="175965590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Risultato immagine per teleriscaldamento cos'e">
            <a:extLst>
              <a:ext uri="{FF2B5EF4-FFF2-40B4-BE49-F238E27FC236}">
                <a16:creationId xmlns:a16="http://schemas.microsoft.com/office/drawing/2014/main" id="{F98F7373-B825-B0E6-79F8-81202995B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 y="2915869"/>
            <a:ext cx="5329993" cy="3970680"/>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C108EAAD-0669-10FE-51CA-3623184AA3ED}"/>
              </a:ext>
            </a:extLst>
          </p:cNvPr>
          <p:cNvSpPr txBox="1"/>
          <p:nvPr/>
        </p:nvSpPr>
        <p:spPr>
          <a:xfrm>
            <a:off x="213360" y="115102"/>
            <a:ext cx="11978640" cy="2800767"/>
          </a:xfrm>
          <a:prstGeom prst="rect">
            <a:avLst/>
          </a:prstGeom>
          <a:noFill/>
        </p:spPr>
        <p:txBody>
          <a:bodyPr wrap="square" rtlCol="0">
            <a:spAutoFit/>
          </a:bodyPr>
          <a:lstStyle/>
          <a:p>
            <a:r>
              <a:rPr lang="it-IT" sz="3200" dirty="0">
                <a:latin typeface="Algerian" panose="04020705040A02060702" pitchFamily="82" charset="0"/>
              </a:rPr>
              <a:t>Il teleriscaldamento</a:t>
            </a:r>
          </a:p>
          <a:p>
            <a:pPr>
              <a:tabLst>
                <a:tab pos="10496550" algn="l"/>
              </a:tabLst>
            </a:pPr>
            <a:r>
              <a:rPr lang="it-IT" sz="2400" dirty="0"/>
              <a:t>Per teleriscaldamento si intende un sistema di unità di riscaldamento a distanza. Attraverso una rete di condutture, trasporta il calore generato da grandi centrali di cogenerazione. Viene utilizzato per poter riscaldare le case rispettando in modo sicuro ed affidabile l’ambiente, ed utilizzando le risorse disponibili sul territorio.</a:t>
            </a:r>
            <a:r>
              <a:rPr lang="it-IT" dirty="0"/>
              <a:t> </a:t>
            </a:r>
            <a:r>
              <a:rPr lang="it-IT" sz="2400" dirty="0"/>
              <a:t>Una centrale di cogenerazione o teleriscaldamento è un grande impianto che produce calore ed energia elettrica e lo distribuisce all’area urbana circostante. </a:t>
            </a:r>
          </a:p>
        </p:txBody>
      </p:sp>
      <p:sp>
        <p:nvSpPr>
          <p:cNvPr id="5" name="CasellaDiTesto 4">
            <a:extLst>
              <a:ext uri="{FF2B5EF4-FFF2-40B4-BE49-F238E27FC236}">
                <a16:creationId xmlns:a16="http://schemas.microsoft.com/office/drawing/2014/main" id="{419F6F83-DD73-A232-B412-3724D5EBAD9B}"/>
              </a:ext>
            </a:extLst>
          </p:cNvPr>
          <p:cNvSpPr txBox="1"/>
          <p:nvPr/>
        </p:nvSpPr>
        <p:spPr>
          <a:xfrm>
            <a:off x="5882640" y="2915869"/>
            <a:ext cx="6096000" cy="3785652"/>
          </a:xfrm>
          <a:prstGeom prst="rect">
            <a:avLst/>
          </a:prstGeom>
          <a:noFill/>
        </p:spPr>
        <p:txBody>
          <a:bodyPr wrap="square" rtlCol="0">
            <a:spAutoFit/>
          </a:bodyPr>
          <a:lstStyle/>
          <a:p>
            <a:r>
              <a:rPr lang="it-IT" sz="2400" dirty="0"/>
              <a:t>Il teleriscaldamento è molto diffuso nell’Europa nord-orientale, ma verso gli anni 70 ha iniziato a diffondersi anche in Italia prima a Brescia e poi a Torino. Questo è da ritenersi un sistema intelligente per riprodurre energia rinnovabile. Dalla centrale, il calore viene trasmesso al fluido termovettore. Questo viene poi distribuito attraverso una rete di condotte verso le utenze finali.</a:t>
            </a:r>
          </a:p>
          <a:p>
            <a:endParaRPr lang="it-IT" sz="2400" dirty="0"/>
          </a:p>
        </p:txBody>
      </p:sp>
    </p:spTree>
    <p:extLst>
      <p:ext uri="{BB962C8B-B14F-4D97-AF65-F5344CB8AC3E}">
        <p14:creationId xmlns:p14="http://schemas.microsoft.com/office/powerpoint/2010/main" val="3251446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9C687DCE-16C0-44F1-B8E2-D021F753BBEB}"/>
              </a:ext>
            </a:extLst>
          </p:cNvPr>
          <p:cNvSpPr txBox="1"/>
          <p:nvPr/>
        </p:nvSpPr>
        <p:spPr>
          <a:xfrm>
            <a:off x="336884" y="242829"/>
            <a:ext cx="10716126" cy="584775"/>
          </a:xfrm>
          <a:prstGeom prst="rect">
            <a:avLst/>
          </a:prstGeom>
          <a:noFill/>
        </p:spPr>
        <p:txBody>
          <a:bodyPr wrap="square" rtlCol="0">
            <a:spAutoFit/>
          </a:bodyPr>
          <a:lstStyle/>
          <a:p>
            <a:r>
              <a:rPr lang="it-IT" sz="3200" dirty="0">
                <a:latin typeface="Algerian" panose="04020705040A02060702" pitchFamily="82" charset="0"/>
              </a:rPr>
              <a:t>Energia termica</a:t>
            </a:r>
          </a:p>
        </p:txBody>
      </p:sp>
      <p:sp>
        <p:nvSpPr>
          <p:cNvPr id="8" name="CasellaDiTesto 7">
            <a:extLst>
              <a:ext uri="{FF2B5EF4-FFF2-40B4-BE49-F238E27FC236}">
                <a16:creationId xmlns:a16="http://schemas.microsoft.com/office/drawing/2014/main" id="{2C4D026E-714B-4486-9B9E-E1A29B7F2AF9}"/>
              </a:ext>
            </a:extLst>
          </p:cNvPr>
          <p:cNvSpPr txBox="1"/>
          <p:nvPr/>
        </p:nvSpPr>
        <p:spPr>
          <a:xfrm>
            <a:off x="336884" y="887135"/>
            <a:ext cx="5759116" cy="5970865"/>
          </a:xfrm>
          <a:prstGeom prst="rect">
            <a:avLst/>
          </a:prstGeom>
          <a:noFill/>
        </p:spPr>
        <p:txBody>
          <a:bodyPr wrap="square" rtlCol="0">
            <a:spAutoFit/>
          </a:bodyPr>
          <a:lstStyle/>
          <a:p>
            <a:r>
              <a:rPr lang="it-IT" sz="2800" dirty="0"/>
              <a:t>L’energia termica è l’energia che possiede un qualsiasi corpo che abbia una temperatura superiore allo zero assoluto. È il calore prodotto dal movimento oscillatorio di atomi e molecole all’interno di un corpo. Si tratta della somma dell’energia cinetica presente in tutti gli atomi che costituiscono un oggetto e dipende dalla massa di quest’ultimo. Un aumento di temperatura si traduce in un’accelerazione del movimento di questi atomi.</a:t>
            </a:r>
          </a:p>
          <a:p>
            <a:endParaRPr lang="it-IT" dirty="0"/>
          </a:p>
        </p:txBody>
      </p:sp>
      <p:pic>
        <p:nvPicPr>
          <p:cNvPr id="9" name="Immagine 8">
            <a:extLst>
              <a:ext uri="{FF2B5EF4-FFF2-40B4-BE49-F238E27FC236}">
                <a16:creationId xmlns:a16="http://schemas.microsoft.com/office/drawing/2014/main" id="{4BA7B4B5-6D99-46F2-9083-94F37A7E0FE6}"/>
              </a:ext>
            </a:extLst>
          </p:cNvPr>
          <p:cNvPicPr>
            <a:picLocks noChangeAspect="1"/>
          </p:cNvPicPr>
          <p:nvPr/>
        </p:nvPicPr>
        <p:blipFill>
          <a:blip r:embed="rId2"/>
          <a:stretch>
            <a:fillRect/>
          </a:stretch>
        </p:blipFill>
        <p:spPr>
          <a:xfrm>
            <a:off x="6095999" y="320842"/>
            <a:ext cx="5759115" cy="3272589"/>
          </a:xfrm>
          <a:prstGeom prst="rect">
            <a:avLst/>
          </a:prstGeom>
        </p:spPr>
      </p:pic>
      <p:sp>
        <p:nvSpPr>
          <p:cNvPr id="11" name="CasellaDiTesto 10">
            <a:extLst>
              <a:ext uri="{FF2B5EF4-FFF2-40B4-BE49-F238E27FC236}">
                <a16:creationId xmlns:a16="http://schemas.microsoft.com/office/drawing/2014/main" id="{431D6C66-549A-4412-A3CC-06948A86DA06}"/>
              </a:ext>
            </a:extLst>
          </p:cNvPr>
          <p:cNvSpPr txBox="1"/>
          <p:nvPr/>
        </p:nvSpPr>
        <p:spPr>
          <a:xfrm>
            <a:off x="5995736" y="3749457"/>
            <a:ext cx="6136105" cy="3108543"/>
          </a:xfrm>
          <a:prstGeom prst="rect">
            <a:avLst/>
          </a:prstGeom>
          <a:noFill/>
        </p:spPr>
        <p:txBody>
          <a:bodyPr wrap="square" rtlCol="0">
            <a:spAutoFit/>
          </a:bodyPr>
          <a:lstStyle/>
          <a:p>
            <a:r>
              <a:rPr lang="it-IT" sz="2800" dirty="0"/>
              <a:t>L’energia termica può essere prodotta in diversi modi:</a:t>
            </a:r>
          </a:p>
          <a:p>
            <a:pPr marL="285750" indent="-285750">
              <a:buFont typeface="Arial" panose="020B0604020202020204" pitchFamily="34" charset="0"/>
              <a:buChar char="•"/>
            </a:pPr>
            <a:r>
              <a:rPr lang="it-IT" sz="2800" dirty="0"/>
              <a:t>Attraverso la combustione;</a:t>
            </a:r>
          </a:p>
          <a:p>
            <a:pPr marL="285750" indent="-285750">
              <a:buFont typeface="Arial" panose="020B0604020202020204" pitchFamily="34" charset="0"/>
              <a:buChar char="•"/>
            </a:pPr>
            <a:r>
              <a:rPr lang="it-IT" sz="2800" dirty="0"/>
              <a:t>Mediante razione nucleari;</a:t>
            </a:r>
          </a:p>
          <a:p>
            <a:pPr marL="285750" indent="-285750">
              <a:buFont typeface="Arial" panose="020B0604020202020204" pitchFamily="34" charset="0"/>
              <a:buChar char="•"/>
            </a:pPr>
            <a:r>
              <a:rPr lang="it-IT" sz="2800" dirty="0"/>
              <a:t>Sfruttando</a:t>
            </a:r>
            <a:r>
              <a:rPr lang="it-IT" sz="2800" i="1" dirty="0"/>
              <a:t> l’effetto </a:t>
            </a:r>
            <a:r>
              <a:rPr lang="it-IT" sz="2800" dirty="0"/>
              <a:t>joule per produrre calore, come avviene nelle stufe elettriche.</a:t>
            </a:r>
            <a:endParaRPr lang="it-IT" dirty="0"/>
          </a:p>
        </p:txBody>
      </p:sp>
    </p:spTree>
    <p:extLst>
      <p:ext uri="{BB962C8B-B14F-4D97-AF65-F5344CB8AC3E}">
        <p14:creationId xmlns:p14="http://schemas.microsoft.com/office/powerpoint/2010/main" val="253795195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104</TotalTime>
  <Words>257</Words>
  <Application>Microsoft Office PowerPoint</Application>
  <PresentationFormat>Widescreen</PresentationFormat>
  <Paragraphs>9</Paragraphs>
  <Slides>2</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vt:i4>
      </vt:variant>
    </vt:vector>
  </HeadingPairs>
  <TitlesOfParts>
    <vt:vector size="7" baseType="lpstr">
      <vt:lpstr>Algerian</vt:lpstr>
      <vt:lpstr>Arial</vt:lpstr>
      <vt:lpstr>Calibri</vt:lpstr>
      <vt:lpstr>Calibri Light</vt:lpstr>
      <vt:lpstr>Tema di Office</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Marisa Greco</dc:creator>
  <cp:lastModifiedBy>Admin</cp:lastModifiedBy>
  <cp:revision>5</cp:revision>
  <dcterms:created xsi:type="dcterms:W3CDTF">2022-05-20T09:08:35Z</dcterms:created>
  <dcterms:modified xsi:type="dcterms:W3CDTF">2022-05-30T18:03:07Z</dcterms:modified>
</cp:coreProperties>
</file>