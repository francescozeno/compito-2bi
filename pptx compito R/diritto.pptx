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0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it-IT" smtClean="0"/>
              <a:t>Fare clic per modificare lo stile del titolo</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mtClean="0"/>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74CF1077-C52D-4097-8A10-F42EA78E28AE}" type="datetimeFigureOut">
              <a:rPr lang="it-IT" smtClean="0"/>
              <a:t>25/02/2022</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737815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3" name="Content Placeholder 2"/>
          <p:cNvSpPr>
            <a:spLocks noGrp="1"/>
          </p:cNvSpPr>
          <p:nvPr>
            <p:ph idx="1"/>
          </p:nvPr>
        </p:nvSpPr>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Date Placeholder 3"/>
          <p:cNvSpPr>
            <a:spLocks noGrp="1"/>
          </p:cNvSpPr>
          <p:nvPr>
            <p:ph type="dt" sz="half" idx="10"/>
          </p:nvPr>
        </p:nvSpPr>
        <p:spPr/>
        <p:txBody>
          <a:bodyPr/>
          <a:lstStyle/>
          <a:p>
            <a:fld id="{74CF1077-C52D-4097-8A10-F42EA78E28AE}" type="datetimeFigureOut">
              <a:rPr lang="it-IT" smtClean="0"/>
              <a:t>25/02/2022</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2205074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smtClean="0"/>
              <a:t>Modifica gli stili del testo dello schema</a:t>
            </a:r>
          </a:p>
        </p:txBody>
      </p:sp>
      <p:sp>
        <p:nvSpPr>
          <p:cNvPr id="4" name="Date Placeholder 3"/>
          <p:cNvSpPr>
            <a:spLocks noGrp="1"/>
          </p:cNvSpPr>
          <p:nvPr>
            <p:ph type="dt" sz="half" idx="10"/>
          </p:nvPr>
        </p:nvSpPr>
        <p:spPr/>
        <p:txBody>
          <a:bodyPr/>
          <a:lstStyle/>
          <a:p>
            <a:fld id="{74CF1077-C52D-4097-8A10-F42EA78E28AE}" type="datetimeFigureOut">
              <a:rPr lang="it-IT" smtClean="0"/>
              <a:t>25/02/2022</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81072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Date Placeholder 4"/>
          <p:cNvSpPr>
            <a:spLocks noGrp="1"/>
          </p:cNvSpPr>
          <p:nvPr>
            <p:ph type="dt" sz="half" idx="10"/>
          </p:nvPr>
        </p:nvSpPr>
        <p:spPr/>
        <p:txBody>
          <a:bodyPr/>
          <a:lstStyle/>
          <a:p>
            <a:fld id="{74CF1077-C52D-4097-8A10-F42EA78E28AE}" type="datetimeFigureOut">
              <a:rPr lang="it-IT" smtClean="0"/>
              <a:t>25/02/2022</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2104746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it-IT" smtClean="0"/>
              <a:t>Fare clic per modificare lo stile del titolo</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4" name="Content Placeholder 3"/>
          <p:cNvSpPr>
            <a:spLocks noGrp="1"/>
          </p:cNvSpPr>
          <p:nvPr>
            <p:ph sz="half" idx="2"/>
          </p:nvPr>
        </p:nvSpPr>
        <p:spPr>
          <a:xfrm>
            <a:off x="839788" y="2505075"/>
            <a:ext cx="5157787"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Modifica gli stili del testo dello schema</a:t>
            </a:r>
          </a:p>
        </p:txBody>
      </p:sp>
      <p:sp>
        <p:nvSpPr>
          <p:cNvPr id="6" name="Content Placeholder 5"/>
          <p:cNvSpPr>
            <a:spLocks noGrp="1"/>
          </p:cNvSpPr>
          <p:nvPr>
            <p:ph sz="quarter" idx="4"/>
          </p:nvPr>
        </p:nvSpPr>
        <p:spPr>
          <a:xfrm>
            <a:off x="6172200" y="2505075"/>
            <a:ext cx="5183188" cy="3684588"/>
          </a:xfrm>
        </p:spPr>
        <p:txBody>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7" name="Date Placeholder 6"/>
          <p:cNvSpPr>
            <a:spLocks noGrp="1"/>
          </p:cNvSpPr>
          <p:nvPr>
            <p:ph type="dt" sz="half" idx="10"/>
          </p:nvPr>
        </p:nvSpPr>
        <p:spPr/>
        <p:txBody>
          <a:bodyPr/>
          <a:lstStyle/>
          <a:p>
            <a:fld id="{74CF1077-C52D-4097-8A10-F42EA78E28AE}" type="datetimeFigureOut">
              <a:rPr lang="it-IT" smtClean="0"/>
              <a:t>25/02/2022</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2918096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3" name="Date Placeholder 2"/>
          <p:cNvSpPr>
            <a:spLocks noGrp="1"/>
          </p:cNvSpPr>
          <p:nvPr>
            <p:ph type="dt" sz="half" idx="10"/>
          </p:nvPr>
        </p:nvSpPr>
        <p:spPr/>
        <p:txBody>
          <a:bodyPr/>
          <a:lstStyle/>
          <a:p>
            <a:fld id="{74CF1077-C52D-4097-8A10-F42EA78E28AE}" type="datetimeFigureOut">
              <a:rPr lang="it-IT" smtClean="0"/>
              <a:t>25/02/2022</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2908114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F1077-C52D-4097-8A10-F42EA78E28AE}" type="datetimeFigureOut">
              <a:rPr lang="it-IT" smtClean="0"/>
              <a:t>25/02/2022</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278438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Date Placeholder 4"/>
          <p:cNvSpPr>
            <a:spLocks noGrp="1"/>
          </p:cNvSpPr>
          <p:nvPr>
            <p:ph type="dt" sz="half" idx="10"/>
          </p:nvPr>
        </p:nvSpPr>
        <p:spPr/>
        <p:txBody>
          <a:bodyPr/>
          <a:lstStyle/>
          <a:p>
            <a:fld id="{74CF1077-C52D-4097-8A10-F42EA78E28AE}" type="datetimeFigureOut">
              <a:rPr lang="it-IT" smtClean="0"/>
              <a:t>25/02/2022</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264370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Fare clic sull'icona per inserire un'immagine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Modifica gli stili del testo dello schema</a:t>
            </a:r>
          </a:p>
        </p:txBody>
      </p:sp>
      <p:sp>
        <p:nvSpPr>
          <p:cNvPr id="5" name="Date Placeholder 4"/>
          <p:cNvSpPr>
            <a:spLocks noGrp="1"/>
          </p:cNvSpPr>
          <p:nvPr>
            <p:ph type="dt" sz="half" idx="10"/>
          </p:nvPr>
        </p:nvSpPr>
        <p:spPr/>
        <p:txBody>
          <a:bodyPr/>
          <a:lstStyle/>
          <a:p>
            <a:fld id="{74CF1077-C52D-4097-8A10-F42EA78E28AE}" type="datetimeFigureOut">
              <a:rPr lang="it-IT" smtClean="0"/>
              <a:t>25/02/2022</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2124082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Date Placeholder 3"/>
          <p:cNvSpPr>
            <a:spLocks noGrp="1"/>
          </p:cNvSpPr>
          <p:nvPr>
            <p:ph type="dt" sz="half" idx="10"/>
          </p:nvPr>
        </p:nvSpPr>
        <p:spPr/>
        <p:txBody>
          <a:bodyPr/>
          <a:lstStyle/>
          <a:p>
            <a:fld id="{74CF1077-C52D-4097-8A10-F42EA78E28AE}" type="datetimeFigureOut">
              <a:rPr lang="it-IT" smtClean="0"/>
              <a:t>25/02/2022</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1888141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Date Placeholder 3"/>
          <p:cNvSpPr>
            <a:spLocks noGrp="1"/>
          </p:cNvSpPr>
          <p:nvPr>
            <p:ph type="dt" sz="half" idx="10"/>
          </p:nvPr>
        </p:nvSpPr>
        <p:spPr/>
        <p:txBody>
          <a:bodyPr/>
          <a:lstStyle/>
          <a:p>
            <a:fld id="{74CF1077-C52D-4097-8A10-F42EA78E28AE}" type="datetimeFigureOut">
              <a:rPr lang="it-IT" smtClean="0"/>
              <a:t>25/02/2022</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C49EBF7A-99A5-4A6E-A7D5-BD31C55EBD05}" type="slidenum">
              <a:rPr lang="it-IT" smtClean="0"/>
              <a:t>‹N›</a:t>
            </a:fld>
            <a:endParaRPr lang="it-IT"/>
          </a:p>
        </p:txBody>
      </p:sp>
    </p:spTree>
    <p:extLst>
      <p:ext uri="{BB962C8B-B14F-4D97-AF65-F5344CB8AC3E}">
        <p14:creationId xmlns:p14="http://schemas.microsoft.com/office/powerpoint/2010/main" val="1283345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smtClean="0"/>
              <a:t>Fare clic per modificare lo stile del titolo</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smtClean="0"/>
              <a:t>Modifica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CF1077-C52D-4097-8A10-F42EA78E28AE}" type="datetimeFigureOut">
              <a:rPr lang="it-IT" smtClean="0"/>
              <a:t>25/02/2022</a:t>
            </a:fld>
            <a:endParaRPr lang="it-IT"/>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EBF7A-99A5-4A6E-A7D5-BD31C55EBD05}" type="slidenum">
              <a:rPr lang="it-IT" smtClean="0"/>
              <a:t>‹N›</a:t>
            </a:fld>
            <a:endParaRPr lang="it-IT"/>
          </a:p>
        </p:txBody>
      </p:sp>
    </p:spTree>
    <p:extLst>
      <p:ext uri="{BB962C8B-B14F-4D97-AF65-F5344CB8AC3E}">
        <p14:creationId xmlns:p14="http://schemas.microsoft.com/office/powerpoint/2010/main" val="881161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352926" y="1122362"/>
            <a:ext cx="11839074" cy="3513805"/>
          </a:xfrm>
        </p:spPr>
        <p:txBody>
          <a:bodyPr>
            <a:noAutofit/>
          </a:bodyPr>
          <a:lstStyle/>
          <a:p>
            <a:r>
              <a:rPr lang="it-IT" sz="9600" dirty="0" smtClean="0"/>
              <a:t>ECONOMIA CLASSICA E</a:t>
            </a:r>
            <a:br>
              <a:rPr lang="it-IT" sz="9600" dirty="0" smtClean="0"/>
            </a:br>
            <a:r>
              <a:rPr lang="it-IT" sz="9600" dirty="0" smtClean="0"/>
              <a:t>ECONOMIA CIRCOLARE</a:t>
            </a:r>
            <a:endParaRPr lang="it-IT" sz="9600" dirty="0"/>
          </a:p>
        </p:txBody>
      </p:sp>
    </p:spTree>
    <p:extLst>
      <p:ext uri="{BB962C8B-B14F-4D97-AF65-F5344CB8AC3E}">
        <p14:creationId xmlns:p14="http://schemas.microsoft.com/office/powerpoint/2010/main" val="111541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p:cNvSpPr/>
          <p:nvPr/>
        </p:nvSpPr>
        <p:spPr>
          <a:xfrm>
            <a:off x="818147" y="2438399"/>
            <a:ext cx="10924674" cy="1754326"/>
          </a:xfrm>
          <a:prstGeom prst="rect">
            <a:avLst/>
          </a:prstGeom>
        </p:spPr>
        <p:txBody>
          <a:bodyPr wrap="square">
            <a:spAutoFit/>
          </a:bodyPr>
          <a:lstStyle/>
          <a:p>
            <a:pPr algn="ctr"/>
            <a:r>
              <a:rPr lang="it-IT" sz="3600" dirty="0" smtClean="0"/>
              <a:t>L’economia può essere definita come il «complesso delle risorse e delle attività rivolte alla loro utilizzazione, di una regione, uno Stato, un continente, il mondo intero»</a:t>
            </a:r>
            <a:endParaRPr lang="it-IT" sz="3600" dirty="0"/>
          </a:p>
        </p:txBody>
      </p:sp>
    </p:spTree>
    <p:extLst>
      <p:ext uri="{BB962C8B-B14F-4D97-AF65-F5344CB8AC3E}">
        <p14:creationId xmlns:p14="http://schemas.microsoft.com/office/powerpoint/2010/main" val="24326380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p:cNvSpPr/>
          <p:nvPr/>
        </p:nvSpPr>
        <p:spPr>
          <a:xfrm>
            <a:off x="0" y="1748589"/>
            <a:ext cx="12047621" cy="3046988"/>
          </a:xfrm>
          <a:prstGeom prst="rect">
            <a:avLst/>
          </a:prstGeom>
        </p:spPr>
        <p:txBody>
          <a:bodyPr wrap="square">
            <a:spAutoFit/>
          </a:bodyPr>
          <a:lstStyle/>
          <a:p>
            <a:pPr algn="ctr"/>
            <a:r>
              <a:rPr lang="it-IT" sz="2400" dirty="0" smtClean="0"/>
              <a:t>L’anno scorso abbiamo studiato gli scopi dell’economia e abbiamo visto che l’economia tradizionale ha come scopo utilizzare al meglio le risorse per soddisfare bisogni individuali o collettivi . Nei sistemi economici reali, le imprese perseguono il Massimo profitto e hanno a lungo trascurato aspetti come l’impatto sull’ambiente della produzione; anche gli Stati, per molto tempo, non hanno badato ad aspetti come la salvaguardia delle risorse naturali, che oggi vengono chiamate beni comuni, e più in generale alla protezione della salute e dell’ambiente, che sono due aspetti collegati. Tutto questo ha portato ad effetti negativi che sono evidenti, ad esempio l’inquinamento ed i troppi rifiuti che non vengono smaltiti</a:t>
            </a:r>
            <a:endParaRPr lang="it-IT" sz="2400" dirty="0"/>
          </a:p>
        </p:txBody>
      </p:sp>
    </p:spTree>
    <p:extLst>
      <p:ext uri="{BB962C8B-B14F-4D97-AF65-F5344CB8AC3E}">
        <p14:creationId xmlns:p14="http://schemas.microsoft.com/office/powerpoint/2010/main" val="943131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p:cNvSpPr/>
          <p:nvPr/>
        </p:nvSpPr>
        <p:spPr>
          <a:xfrm>
            <a:off x="0" y="0"/>
            <a:ext cx="12192000" cy="3139321"/>
          </a:xfrm>
          <a:prstGeom prst="rect">
            <a:avLst/>
          </a:prstGeom>
        </p:spPr>
        <p:txBody>
          <a:bodyPr wrap="square">
            <a:spAutoFit/>
          </a:bodyPr>
          <a:lstStyle/>
          <a:p>
            <a:pPr algn="ctr"/>
            <a:r>
              <a:rPr lang="it-IT" dirty="0" smtClean="0"/>
              <a:t>L’economia lineare, caratterizzata da un modello del “prendere, fare e smaltire”, si è realizzata a cavallo</a:t>
            </a:r>
          </a:p>
          <a:p>
            <a:pPr algn="ctr"/>
            <a:r>
              <a:rPr lang="it-IT" dirty="0" smtClean="0"/>
              <a:t>tra il Settecento e i primi dell’Ottocento ed ha trovato piena affermazione con la produzione di massa.</a:t>
            </a:r>
          </a:p>
          <a:p>
            <a:pPr algn="ctr"/>
            <a:r>
              <a:rPr lang="it-IT" dirty="0" smtClean="0"/>
              <a:t>A partire dagli anni 70 ci si è accorti che questo incessante flusso di estrazione e dismissione, inefficiente e costoso è stato, ed è tuttora, una delle principali cause di fenomeni come l’inquinamento marino e terrestre, l’emissione di gas serra e del conseguente cambiamento climatico, generando inoltre un’intensa competizione per il controllo delle materie prime. E’ apparso sempre più evidente da parte di studiosi e analisti come la crescita economica debba essere combinata con un più coerente sviluppo sostenibile anche sul fronte ambientale e sociale. Per questi motivi, nonché per una crescente attenzione e sensibilità da parte delle imprese verso le tematiche ambientali e sociali si è sentita l’esigenza di un modello di produzione e consumo alternativo, più in grado di combinare esigenze di benessere e di crescita con il rispetto e la salvaguardia dell’ambiente. Si è così andato a delineare nell’ultimo decennio un nuovo paradigma incentrato su un’“economia circolare, all’interno di un orientamento economico che tenesse conto delle sfide imposte dall’ambiente.</a:t>
            </a:r>
          </a:p>
        </p:txBody>
      </p:sp>
      <p:sp>
        <p:nvSpPr>
          <p:cNvPr id="3" name="Rettangolo 2"/>
          <p:cNvSpPr/>
          <p:nvPr/>
        </p:nvSpPr>
        <p:spPr>
          <a:xfrm>
            <a:off x="5977217" y="3244334"/>
            <a:ext cx="237566" cy="369332"/>
          </a:xfrm>
          <a:prstGeom prst="rect">
            <a:avLst/>
          </a:prstGeom>
        </p:spPr>
        <p:txBody>
          <a:bodyPr wrap="none">
            <a:spAutoFit/>
          </a:bodyPr>
          <a:lstStyle/>
          <a:p>
            <a:r>
              <a:rPr lang="it-IT" dirty="0" smtClean="0"/>
              <a:t> </a:t>
            </a:r>
            <a:endParaRPr lang="it-IT" dirty="0"/>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7284" y="3232441"/>
            <a:ext cx="6281361" cy="3522921"/>
          </a:xfrm>
          <a:prstGeom prst="rect">
            <a:avLst/>
          </a:prstGeom>
          <a:solidFill>
            <a:schemeClr val="bg1"/>
          </a:solidFill>
        </p:spPr>
      </p:pic>
    </p:spTree>
    <p:extLst>
      <p:ext uri="{BB962C8B-B14F-4D97-AF65-F5344CB8AC3E}">
        <p14:creationId xmlns:p14="http://schemas.microsoft.com/office/powerpoint/2010/main" val="22606069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p:cNvSpPr txBox="1"/>
          <p:nvPr/>
        </p:nvSpPr>
        <p:spPr>
          <a:xfrm>
            <a:off x="352926" y="850231"/>
            <a:ext cx="11486147" cy="4893647"/>
          </a:xfrm>
          <a:prstGeom prst="rect">
            <a:avLst/>
          </a:prstGeom>
          <a:noFill/>
        </p:spPr>
        <p:txBody>
          <a:bodyPr wrap="square" rtlCol="0">
            <a:spAutoFit/>
          </a:bodyPr>
          <a:lstStyle/>
          <a:p>
            <a:pPr algn="ctr"/>
            <a:r>
              <a:rPr lang="it-IT" sz="2400" dirty="0" smtClean="0"/>
              <a:t>Un esempio può essere l’azienda Italiana Barilla che attua un modello di economia circolare ed ecosostenibile i traguardi raggiunti fino ad ora sono i seguenti:</a:t>
            </a:r>
          </a:p>
          <a:p>
            <a:pPr marL="285750" indent="-285750" algn="ctr">
              <a:buFont typeface="Arial" panose="020B0604020202020204" pitchFamily="34" charset="0"/>
              <a:buChar char="•"/>
            </a:pPr>
            <a:r>
              <a:rPr lang="it-IT" sz="2400" dirty="0" smtClean="0"/>
              <a:t>-31% di emissioni di CO2 in 10 anni per tonnellata di prodotto finito. Carbon </a:t>
            </a:r>
            <a:r>
              <a:rPr lang="it-IT" sz="2400" dirty="0" err="1" smtClean="0"/>
              <a:t>neutral</a:t>
            </a:r>
            <a:r>
              <a:rPr lang="it-IT" sz="2400" dirty="0" smtClean="0"/>
              <a:t> 4 marche del Gruppo.</a:t>
            </a:r>
          </a:p>
          <a:p>
            <a:pPr marL="285750" indent="-285750" algn="ctr">
              <a:buFont typeface="Arial" panose="020B0604020202020204" pitchFamily="34" charset="0"/>
              <a:buChar char="•"/>
            </a:pPr>
            <a:r>
              <a:rPr lang="it-IT" sz="2400" dirty="0" smtClean="0"/>
              <a:t>​Packaging sostenibile: riduzione della plastica e utilizzo di carta in fibra vergine per confezioni e imballaggi, verso il 100% di confezioni progettate per essere riciclabili.</a:t>
            </a:r>
          </a:p>
          <a:p>
            <a:pPr marL="285750" indent="-285750" algn="ctr">
              <a:buFont typeface="Arial" panose="020B0604020202020204" pitchFamily="34" charset="0"/>
              <a:buChar char="•"/>
            </a:pPr>
            <a:r>
              <a:rPr lang="it-IT" sz="2400" dirty="0" smtClean="0"/>
              <a:t>Nel 2020 investiti 40 milioni di euro nelle attività di Ricerca e Sviluppo. </a:t>
            </a:r>
            <a:r>
              <a:rPr lang="it-IT" sz="2400" dirty="0" err="1" smtClean="0"/>
              <a:t>Cecille</a:t>
            </a:r>
            <a:r>
              <a:rPr lang="it-IT" sz="2400" dirty="0" smtClean="0"/>
              <a:t> e </a:t>
            </a:r>
            <a:r>
              <a:rPr lang="it-IT" sz="2400" dirty="0" err="1" smtClean="0"/>
              <a:t>Lentille</a:t>
            </a:r>
            <a:r>
              <a:rPr lang="it-IT" sz="2400" dirty="0" smtClean="0"/>
              <a:t>, i nuovi biscotti con farina di legumi, apripista di 60 prodotti nuovi o riformulati, con meno zuccheri, grassi, sale e più fibre e legumi, che portano il totale a 476 in 10 anni.</a:t>
            </a:r>
          </a:p>
          <a:p>
            <a:pPr marL="285750" indent="-285750" algn="ctr">
              <a:buFont typeface="Arial" panose="020B0604020202020204" pitchFamily="34" charset="0"/>
              <a:buChar char="•"/>
            </a:pPr>
            <a:r>
              <a:rPr lang="it-IT" sz="2400" dirty="0" smtClean="0"/>
              <a:t>5 milioni di euro e 3.500 tonnellate di prodotti donati: il sostegno di Barilla alle comunità durante l’emergenza </a:t>
            </a:r>
            <a:r>
              <a:rPr lang="it-IT" sz="2400" dirty="0" err="1" smtClean="0"/>
              <a:t>Covid</a:t>
            </a:r>
            <a:r>
              <a:rPr lang="it-IT" sz="2400" dirty="0" smtClean="0"/>
              <a:t>.</a:t>
            </a:r>
          </a:p>
          <a:p>
            <a:pPr marL="285750" indent="-285750" algn="ctr">
              <a:buFont typeface="Arial" panose="020B0604020202020204" pitchFamily="34" charset="0"/>
              <a:buChar char="•"/>
            </a:pPr>
            <a:r>
              <a:rPr lang="it-IT" sz="2400" dirty="0" smtClean="0"/>
              <a:t>Circa 10.000 aziende agricole coinvolte in progetti di agricoltura sostenibile per le principali materie prime.</a:t>
            </a:r>
            <a:endParaRPr lang="it-IT" sz="2400" dirty="0"/>
          </a:p>
        </p:txBody>
      </p:sp>
    </p:spTree>
    <p:extLst>
      <p:ext uri="{BB962C8B-B14F-4D97-AF65-F5344CB8AC3E}">
        <p14:creationId xmlns:p14="http://schemas.microsoft.com/office/powerpoint/2010/main" val="4061684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p:cNvSpPr/>
          <p:nvPr/>
        </p:nvSpPr>
        <p:spPr>
          <a:xfrm>
            <a:off x="820280" y="2224298"/>
            <a:ext cx="10763075" cy="4093428"/>
          </a:xfrm>
          <a:prstGeom prst="rect">
            <a:avLst/>
          </a:prstGeom>
        </p:spPr>
        <p:txBody>
          <a:bodyPr wrap="square">
            <a:spAutoFit/>
          </a:bodyPr>
          <a:lstStyle/>
          <a:p>
            <a:pPr algn="ctr"/>
            <a:r>
              <a:rPr lang="it-IT" sz="2000" dirty="0"/>
              <a:t>L'articolo 9 della Costituzione è stato modificato mediante procedimento di </a:t>
            </a:r>
            <a:r>
              <a:rPr lang="it-IT" sz="2000" dirty="0" smtClean="0"/>
              <a:t>revisione costituzionale </a:t>
            </a:r>
            <a:r>
              <a:rPr lang="it-IT" sz="2000" dirty="0"/>
              <a:t>che ha portato all’introduzione di un nuovo comma finale ovvero</a:t>
            </a:r>
            <a:r>
              <a:rPr lang="it-IT" sz="2000" dirty="0" smtClean="0"/>
              <a:t>:</a:t>
            </a:r>
          </a:p>
          <a:p>
            <a:pPr algn="ctr"/>
            <a:endParaRPr lang="it-IT" sz="2000" dirty="0"/>
          </a:p>
          <a:p>
            <a:pPr algn="ctr"/>
            <a:r>
              <a:rPr lang="it-IT" sz="2000" i="1" dirty="0" smtClean="0"/>
              <a:t> «</a:t>
            </a:r>
            <a:r>
              <a:rPr lang="it-IT" sz="2000" i="1" dirty="0"/>
              <a:t>la Repubblica tutela l'ambiente e l'ecosistema, protegge la biodiversità e gli animali,</a:t>
            </a:r>
          </a:p>
          <a:p>
            <a:pPr algn="ctr"/>
            <a:r>
              <a:rPr lang="it-IT" sz="2000" i="1" dirty="0"/>
              <a:t>promuove lo sviluppo sostenibile anche nell'interesse delle nuove generazioni</a:t>
            </a:r>
            <a:r>
              <a:rPr lang="it-IT" sz="2000" i="1" dirty="0" smtClean="0"/>
              <a:t>».</a:t>
            </a:r>
          </a:p>
          <a:p>
            <a:pPr algn="ctr"/>
            <a:endParaRPr lang="it-IT" sz="2000" i="1" dirty="0"/>
          </a:p>
          <a:p>
            <a:pPr algn="ctr"/>
            <a:r>
              <a:rPr lang="it-IT" sz="2000" dirty="0" smtClean="0"/>
              <a:t> Questa </a:t>
            </a:r>
            <a:r>
              <a:rPr lang="it-IT" sz="2000" dirty="0"/>
              <a:t>importante modifica evidenzia che lo Stato è a favore dello sviluppo sostenibile, in </a:t>
            </a:r>
            <a:r>
              <a:rPr lang="it-IT" sz="2000" dirty="0" smtClean="0"/>
              <a:t>cui può </a:t>
            </a:r>
            <a:r>
              <a:rPr lang="it-IT" sz="2000" dirty="0"/>
              <a:t>essere incluso a pieno titolo il modello di economia circolare poiché, tramite il riciclo, </a:t>
            </a:r>
            <a:r>
              <a:rPr lang="it-IT" sz="2000" dirty="0" smtClean="0"/>
              <a:t>si diminuiscono </a:t>
            </a:r>
            <a:r>
              <a:rPr lang="it-IT" sz="2000" dirty="0"/>
              <a:t>scarti e rifiuti, con un impatto positivo sulla protezione </a:t>
            </a:r>
            <a:r>
              <a:rPr lang="it-IT" sz="2000" dirty="0" smtClean="0"/>
              <a:t>dell'ambiente. </a:t>
            </a:r>
          </a:p>
          <a:p>
            <a:pPr algn="ctr"/>
            <a:r>
              <a:rPr lang="it-IT" sz="2000" dirty="0" smtClean="0"/>
              <a:t>Con </a:t>
            </a:r>
            <a:r>
              <a:rPr lang="it-IT" sz="2000" dirty="0"/>
              <a:t>questa modifica epocale la tutela </a:t>
            </a:r>
            <a:r>
              <a:rPr lang="it-IT" sz="2000" dirty="0" smtClean="0"/>
              <a:t>dell’ ambiente </a:t>
            </a:r>
            <a:r>
              <a:rPr lang="it-IT" sz="2000" dirty="0"/>
              <a:t>e la sostenibilità dei processi</a:t>
            </a:r>
          </a:p>
          <a:p>
            <a:pPr algn="ctr"/>
            <a:r>
              <a:rPr lang="it-IT" sz="2000" dirty="0"/>
              <a:t>produttivi assume il valore di principio fondamentale, costituzionalmente </a:t>
            </a:r>
            <a:r>
              <a:rPr lang="it-IT" sz="2000" dirty="0" smtClean="0"/>
              <a:t>tutelata. Inoltre</a:t>
            </a:r>
            <a:r>
              <a:rPr lang="it-IT" sz="2000" dirty="0"/>
              <a:t>, vengono </a:t>
            </a:r>
            <a:r>
              <a:rPr lang="it-IT" sz="2000" dirty="0" smtClean="0"/>
              <a:t>menzionate le </a:t>
            </a:r>
            <a:r>
              <a:rPr lang="it-IT" sz="2000" dirty="0"/>
              <a:t>future generazioni, ciò fa capire che la tutela </a:t>
            </a:r>
            <a:r>
              <a:rPr lang="it-IT" sz="2000" dirty="0" smtClean="0"/>
              <a:t>deve avere </a:t>
            </a:r>
            <a:r>
              <a:rPr lang="it-IT" sz="2000" dirty="0"/>
              <a:t>un orizzonte lungo, si tratta di preservare il Pianeta  </a:t>
            </a:r>
            <a:r>
              <a:rPr lang="it-IT" sz="2000" dirty="0" smtClean="0"/>
              <a:t>per </a:t>
            </a:r>
            <a:r>
              <a:rPr lang="it-IT" sz="2000" dirty="0"/>
              <a:t>tutte le </a:t>
            </a:r>
            <a:r>
              <a:rPr lang="it-IT" sz="2000" dirty="0" smtClean="0"/>
              <a:t>generazioni future </a:t>
            </a:r>
            <a:r>
              <a:rPr lang="it-IT" sz="2000" dirty="0"/>
              <a:t>e ogni generazione è responsabile di questo</a:t>
            </a:r>
            <a:endParaRPr lang="it-IT" sz="2000" dirty="0"/>
          </a:p>
        </p:txBody>
      </p:sp>
      <p:sp>
        <p:nvSpPr>
          <p:cNvPr id="4" name="Rettangolo 3"/>
          <p:cNvSpPr/>
          <p:nvPr/>
        </p:nvSpPr>
        <p:spPr>
          <a:xfrm>
            <a:off x="-295234" y="675089"/>
            <a:ext cx="12994105" cy="1323439"/>
          </a:xfrm>
          <a:prstGeom prst="rect">
            <a:avLst/>
          </a:prstGeom>
        </p:spPr>
        <p:txBody>
          <a:bodyPr wrap="square">
            <a:spAutoFit/>
          </a:bodyPr>
          <a:lstStyle/>
          <a:p>
            <a:pPr algn="ctr"/>
            <a:r>
              <a:rPr lang="it-IT" sz="4000" dirty="0" smtClean="0"/>
              <a:t>IL TEMA DELLA SOSTENIBILITÀ ENTRA NELLA NOSTRA COSTITUZIONE</a:t>
            </a:r>
            <a:endParaRPr lang="it-IT" sz="4000" dirty="0"/>
          </a:p>
        </p:txBody>
      </p:sp>
      <p:sp>
        <p:nvSpPr>
          <p:cNvPr id="5" name="AutoShape 2" descr="blob:https://web.whatsapp.com/8fcc5d86-e62c-4387-a85d-ffe2cdc3f1c8"/>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Tree>
    <p:extLst>
      <p:ext uri="{BB962C8B-B14F-4D97-AF65-F5344CB8AC3E}">
        <p14:creationId xmlns:p14="http://schemas.microsoft.com/office/powerpoint/2010/main" val="42289515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blob:https://web.whatsapp.com/8fcc5d86-e62c-4387-a85d-ffe2cdc3f1c8"/>
          <p:cNvSpPr>
            <a:spLocks noChangeAspect="1" noChangeArrowheads="1"/>
          </p:cNvSpPr>
          <p:nvPr/>
        </p:nvSpPr>
        <p:spPr bwMode="auto">
          <a:xfrm>
            <a:off x="155575" y="-144463"/>
            <a:ext cx="8202362" cy="820238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
        <p:nvSpPr>
          <p:cNvPr id="4" name="Rettangolo 3"/>
          <p:cNvSpPr/>
          <p:nvPr/>
        </p:nvSpPr>
        <p:spPr>
          <a:xfrm>
            <a:off x="741689" y="1927791"/>
            <a:ext cx="10531814" cy="4801314"/>
          </a:xfrm>
          <a:prstGeom prst="rect">
            <a:avLst/>
          </a:prstGeom>
        </p:spPr>
        <p:txBody>
          <a:bodyPr wrap="square">
            <a:spAutoFit/>
          </a:bodyPr>
          <a:lstStyle/>
          <a:p>
            <a:pPr algn="ctr"/>
            <a:r>
              <a:rPr lang="it-IT" dirty="0" smtClean="0"/>
              <a:t>La Commissione europea ha adottato oggi un nuovo piano d'azione per l'economia circolare, uno dei principali elementi del Green Deal europeo, il nuovo programma per la crescita sostenibile in Europa. Il piano e le sue iniziative saranno sviluppati in stretta collaborazione con le imprese e tutti i portatori di </a:t>
            </a:r>
            <a:r>
              <a:rPr lang="it-IT" dirty="0"/>
              <a:t>interessi. La transizione verso un'economia circolare è già in corso, con imprese all'avanguardia,</a:t>
            </a:r>
          </a:p>
          <a:p>
            <a:pPr algn="ctr"/>
            <a:r>
              <a:rPr lang="it-IT" dirty="0"/>
              <a:t>consumatori e autorità pubbliche in Europa che aderiscono a questo modello sostenibile. La</a:t>
            </a:r>
          </a:p>
          <a:p>
            <a:pPr algn="ctr"/>
            <a:r>
              <a:rPr lang="it-IT" dirty="0"/>
              <a:t>Commissione farà in modo che la transizione verso l'economia circolare offra opportunità a tutti,</a:t>
            </a:r>
          </a:p>
          <a:p>
            <a:pPr algn="ctr"/>
            <a:r>
              <a:rPr lang="it-IT" dirty="0"/>
              <a:t>senza lasciare indietro nessuno. Il piano d'azione per l'economia circolare, presentato oggi nel</a:t>
            </a:r>
          </a:p>
          <a:p>
            <a:pPr algn="ctr"/>
            <a:r>
              <a:rPr lang="it-IT" dirty="0"/>
              <a:t>quadro della strategia industriale dell'UE, proporrà misure per:</a:t>
            </a:r>
          </a:p>
          <a:p>
            <a:pPr algn="ctr"/>
            <a:endParaRPr lang="it-IT" dirty="0"/>
          </a:p>
          <a:p>
            <a:pPr algn="ctr"/>
            <a:r>
              <a:rPr lang="it-IT" dirty="0"/>
              <a:t>---far sì che i prodotti sostenibili diventino la norma nell'Unione</a:t>
            </a:r>
          </a:p>
          <a:p>
            <a:pPr algn="ctr"/>
            <a:endParaRPr lang="it-IT" dirty="0"/>
          </a:p>
          <a:p>
            <a:pPr algn="ctr"/>
            <a:r>
              <a:rPr lang="it-IT" dirty="0"/>
              <a:t>---responsabilizzare i consumatori</a:t>
            </a:r>
          </a:p>
          <a:p>
            <a:pPr algn="ctr"/>
            <a:endParaRPr lang="it-IT" dirty="0"/>
          </a:p>
          <a:p>
            <a:pPr algn="ctr"/>
            <a:r>
              <a:rPr lang="it-IT" dirty="0"/>
              <a:t>---incentrare l'attenzione sui settori che utilizzano più risorse e che hanno un elevato potenziale di</a:t>
            </a:r>
          </a:p>
          <a:p>
            <a:pPr algn="ctr"/>
            <a:r>
              <a:rPr lang="it-IT" dirty="0"/>
              <a:t>circolarità</a:t>
            </a:r>
          </a:p>
          <a:p>
            <a:pPr algn="ctr"/>
            <a:endParaRPr lang="it-IT" dirty="0"/>
          </a:p>
          <a:p>
            <a:pPr algn="ctr"/>
            <a:r>
              <a:rPr lang="it-IT" dirty="0"/>
              <a:t>---ridurre i rifiuti</a:t>
            </a:r>
          </a:p>
        </p:txBody>
      </p:sp>
      <p:sp>
        <p:nvSpPr>
          <p:cNvPr id="5" name="Rettangolo 4"/>
          <p:cNvSpPr/>
          <p:nvPr/>
        </p:nvSpPr>
        <p:spPr>
          <a:xfrm>
            <a:off x="3413392" y="537721"/>
            <a:ext cx="5188408" cy="707886"/>
          </a:xfrm>
          <a:prstGeom prst="rect">
            <a:avLst/>
          </a:prstGeom>
        </p:spPr>
        <p:txBody>
          <a:bodyPr wrap="none">
            <a:spAutoFit/>
          </a:bodyPr>
          <a:lstStyle/>
          <a:p>
            <a:r>
              <a:rPr lang="it-IT" sz="4000" dirty="0" smtClean="0"/>
              <a:t>LA STRATEGIA EUROPEA</a:t>
            </a:r>
            <a:endParaRPr lang="it-IT" sz="4000" dirty="0"/>
          </a:p>
        </p:txBody>
      </p:sp>
    </p:spTree>
    <p:extLst>
      <p:ext uri="{BB962C8B-B14F-4D97-AF65-F5344CB8AC3E}">
        <p14:creationId xmlns:p14="http://schemas.microsoft.com/office/powerpoint/2010/main" val="357169248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Tema di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i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i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TM10001115[[fn=Pacco]]</Template>
  <TotalTime>29</TotalTime>
  <Words>870</Words>
  <Application>Microsoft Office PowerPoint</Application>
  <PresentationFormat>Widescreen</PresentationFormat>
  <Paragraphs>37</Paragraphs>
  <Slides>7</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7</vt:i4>
      </vt:variant>
    </vt:vector>
  </HeadingPairs>
  <TitlesOfParts>
    <vt:vector size="11" baseType="lpstr">
      <vt:lpstr>Arial</vt:lpstr>
      <vt:lpstr>Calibri</vt:lpstr>
      <vt:lpstr>Calibri Light</vt:lpstr>
      <vt:lpstr>Office Theme</vt:lpstr>
      <vt:lpstr>ECONOMIA CLASSICA E ECONOMIA CIRCOLARE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ECONOMIA CLASSICA E ECONOMIA CIRCOLARE</dc:title>
  <dc:creator>Luigi Montella</dc:creator>
  <cp:lastModifiedBy>Luigi Montella</cp:lastModifiedBy>
  <cp:revision>5</cp:revision>
  <dcterms:created xsi:type="dcterms:W3CDTF">2022-02-25T15:15:09Z</dcterms:created>
  <dcterms:modified xsi:type="dcterms:W3CDTF">2022-02-25T15:46:30Z</dcterms:modified>
</cp:coreProperties>
</file>